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🎈 EventPlanner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</a:rPr>
              <a:t>עוזר AI לתכנון אירועים עם בובות מתנפחות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926080"/>
            <a:ext cx="2286000" cy="1097280"/>
          </a:xfrm>
          <a:prstGeom prst="roundRect">
            <a:avLst/>
          </a:prstGeom>
          <a:solidFill>
            <a:srgbClr val="37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2461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Conversational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926080"/>
            <a:ext cx="2286000" cy="1097280"/>
          </a:xfrm>
          <a:prstGeom prst="roundRect">
            <a:avLst/>
          </a:prstGeom>
          <a:solidFill>
            <a:srgbClr val="2E9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79" y="32461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Vision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2286000" cy="1097280"/>
          </a:xfrm>
          <a:prstGeom prst="roundRect">
            <a:avLst/>
          </a:prstGeom>
          <a:solidFill>
            <a:srgbClr val="F4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2461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RAG + ChromaDB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59" y="2926080"/>
            <a:ext cx="2286000" cy="1097280"/>
          </a:xfrm>
          <a:prstGeom prst="roundRect">
            <a:avLst/>
          </a:prstGeom>
          <a:solidFill>
            <a:srgbClr val="82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3999" y="32461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Text-to-Speech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577840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פרויקט גמר בקורס LLMS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9707A"/>
                </a:solidFill>
                <a:latin typeface="Arial"/>
              </a:rPr>
              <a:t>EventPlanner AI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800" b="1">
                <a:solidFill>
                  <a:srgbClr val="233446"/>
                </a:solidFill>
                <a:latin typeface="Arial"/>
              </a:rPr>
              <a:t>הבעיה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300" b="0">
                <a:solidFill>
                  <a:srgbClr val="69707A"/>
                </a:solidFill>
                <a:latin typeface="Arial"/>
              </a:rPr>
              <a:t>לקוחות ועסקים צריכים לקבל החלטות מהר, אבל הרבה מידע קריטי חסר בזמן אמת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300">
                <a:solidFill>
                  <a:srgbClr val="282828"/>
                </a:solidFill>
                <a:latin typeface="Arial"/>
              </a:rPr>
              <a:t>• לקוחות לא יודעים איזו חבילה מתאימה לסוג האירוע</a:t>
            </a:r>
          </a:p>
          <a:p>
            <a:pPr algn="r"/>
            <a:r>
              <a:rPr sz="2300">
                <a:solidFill>
                  <a:srgbClr val="282828"/>
                </a:solidFill>
                <a:latin typeface="Arial"/>
              </a:rPr>
              <a:t>• קל לשכוח פרטים כמו חשמל, כניסה, גובה תקרה ותיאום עם DJ</a:t>
            </a:r>
          </a:p>
          <a:p>
            <a:pPr algn="r"/>
            <a:r>
              <a:rPr sz="2300">
                <a:solidFill>
                  <a:srgbClr val="282828"/>
                </a:solidFill>
                <a:latin typeface="Arial"/>
              </a:rPr>
              <a:t>• איש מכירות צריך לתת תשובה מהירה, אחידה ומשכנעת</a:t>
            </a:r>
          </a:p>
          <a:p>
            <a:pPr algn="r"/>
            <a:r>
              <a:rPr sz="2300">
                <a:solidFill>
                  <a:srgbClr val="282828"/>
                </a:solidFill>
                <a:latin typeface="Arial"/>
              </a:rPr>
              <a:t>• תמונה של המקום יכולה לחשוף מגבלות שלא מופיעות בטקסט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828800"/>
            <a:ext cx="2926080" cy="731520"/>
          </a:xfrm>
          <a:prstGeom prst="roundRect">
            <a:avLst/>
          </a:prstGeom>
          <a:solidFill>
            <a:srgbClr val="37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202996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שיחת לקוח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971800"/>
            <a:ext cx="2926080" cy="731520"/>
          </a:xfrm>
          <a:prstGeom prst="roundRect">
            <a:avLst/>
          </a:prstGeom>
          <a:solidFill>
            <a:srgbClr val="2E9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317296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מקום האירוע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114800"/>
            <a:ext cx="2926080" cy="731520"/>
          </a:xfrm>
          <a:prstGeom prst="roundRect">
            <a:avLst/>
          </a:prstGeom>
          <a:solidFill>
            <a:srgbClr val="F4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431596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החלטת מחיר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9707A"/>
                </a:solidFill>
                <a:latin typeface="Arial"/>
              </a:rPr>
              <a:t>EventPlanner AI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800" b="1">
                <a:solidFill>
                  <a:srgbClr val="233446"/>
                </a:solidFill>
                <a:latin typeface="Arial"/>
              </a:rPr>
              <a:t>הפתרון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300" b="0">
                <a:solidFill>
                  <a:srgbClr val="69707A"/>
                </a:solidFill>
                <a:latin typeface="Arial"/>
              </a:rPr>
              <a:t>ממשק Web אחד שמחבר בין שיחה טבעית, מידע פנימי, ניתוח תמונות ושמע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20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37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233446"/>
                </a:solidFill>
                <a:latin typeface="Arial"/>
              </a:rPr>
              <a:t>שיחה עם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69707A"/>
                </a:solidFill>
                <a:latin typeface="Arial"/>
              </a:rPr>
              <a:t>המשתמש שואל שאלה בעברית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120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37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233446"/>
                </a:solidFill>
                <a:latin typeface="Arial"/>
              </a:rPr>
              <a:t>ניתוח תמונה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3317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69707A"/>
                </a:solidFill>
                <a:latin typeface="Arial"/>
              </a:rPr>
              <a:t>בדיקת אולם, כניסה או רחבה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5120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37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204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233446"/>
                </a:solidFill>
                <a:latin typeface="Arial"/>
              </a:rP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8620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69707A"/>
                </a:solidFill>
                <a:latin typeface="Arial"/>
              </a:rPr>
              <a:t>תשובות מתוך בסיס ידע פנימי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383280"/>
            <a:ext cx="51206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37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5204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233446"/>
                </a:solidFill>
                <a:latin typeface="Arial"/>
              </a:rPr>
              <a:t>TTS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88620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69707A"/>
                </a:solidFill>
                <a:latin typeface="Arial"/>
              </a:rPr>
              <a:t>יצירת קובץ MP3 מתשובה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E998E"/>
                </a:solidFill>
                <a:latin typeface="Arial"/>
              </a:rPr>
              <a:t>התוצאה: המלצה מעשית מה להציע, מה לבדוק ואיך להתקדם לסגירה מקצועית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9707A"/>
                </a:solidFill>
                <a:latin typeface="Arial"/>
              </a:rPr>
              <a:t>EventPlanner AI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800" b="1">
                <a:solidFill>
                  <a:srgbClr val="233446"/>
                </a:solidFill>
                <a:latin typeface="Arial"/>
              </a:rPr>
              <a:t>קהל יעד וערך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383280" cy="2011680"/>
          </a:xfrm>
          <a:prstGeom prst="roundRect">
            <a:avLst/>
          </a:prstGeom>
          <a:solidFill>
            <a:srgbClr val="37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בעלי עסקים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2926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Arial"/>
              </a:rPr>
              <a:t>תשובות עקביות ומהירות ללקוחות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920240"/>
            <a:ext cx="3383280" cy="2011680"/>
          </a:xfrm>
          <a:prstGeom prst="roundRect">
            <a:avLst/>
          </a:prstGeom>
          <a:solidFill>
            <a:srgbClr val="2E9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22402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אנשי מכירות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788920"/>
            <a:ext cx="2926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Arial"/>
              </a:rPr>
              <a:t>המלצה לחבילה וסגירה מקצועית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920240"/>
            <a:ext cx="3383280" cy="2011680"/>
          </a:xfrm>
          <a:prstGeom prst="roundRect">
            <a:avLst/>
          </a:prstGeom>
          <a:solidFill>
            <a:srgbClr val="F4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22402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לקוחות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88920"/>
            <a:ext cx="2926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Arial"/>
              </a:rPr>
              <a:t>הבנה מה מתאים לאירוע ומה צריך לבדוק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1772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>
                <a:solidFill>
                  <a:srgbClr val="282828"/>
                </a:solidFill>
                <a:latin typeface="Arial"/>
              </a:rPr>
              <a:t>• חיסכון בזמן</a:t>
            </a:r>
          </a:p>
          <a:p>
            <a:pPr algn="r"/>
            <a:r>
              <a:rPr sz="2100">
                <a:solidFill>
                  <a:srgbClr val="282828"/>
                </a:solidFill>
                <a:latin typeface="Arial"/>
              </a:rPr>
              <a:t>• צמצום טעויות לוגיסטיות</a:t>
            </a:r>
          </a:p>
          <a:p>
            <a:pPr algn="r"/>
            <a:r>
              <a:rPr sz="2100">
                <a:solidFill>
                  <a:srgbClr val="282828"/>
                </a:solidFill>
                <a:latin typeface="Arial"/>
              </a:rPr>
              <a:t>• מענה מקצועי יותר ללקוח</a:t>
            </a:r>
          </a:p>
          <a:p>
            <a:pPr algn="r"/>
            <a:r>
              <a:rPr sz="2100">
                <a:solidFill>
                  <a:srgbClr val="282828"/>
                </a:solidFill>
                <a:latin typeface="Arial"/>
              </a:rPr>
              <a:t>• יכולת להרחיב את בסיס הידע בקלות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9707A"/>
                </a:solidFill>
                <a:latin typeface="Arial"/>
              </a:rPr>
              <a:t>EventPlanner AI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800" b="1">
                <a:solidFill>
                  <a:srgbClr val="233446"/>
                </a:solidFill>
                <a:latin typeface="Arial"/>
              </a:rPr>
              <a:t>ארכיטקטורה כללית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94560"/>
            <a:ext cx="1965960" cy="777240"/>
          </a:xfrm>
          <a:prstGeom prst="roundRect">
            <a:avLst/>
          </a:prstGeom>
          <a:solidFill>
            <a:srgbClr val="37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423160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Streamlit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23317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9707A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2194560"/>
            <a:ext cx="1965960" cy="777240"/>
          </a:xfrm>
          <a:prstGeom prst="roundRect">
            <a:avLst/>
          </a:prstGeom>
          <a:solidFill>
            <a:srgbClr val="2E9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79" y="2423160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Responses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23317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9707A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2194560"/>
            <a:ext cx="1965960" cy="777240"/>
          </a:xfrm>
          <a:prstGeom prst="roundRect">
            <a:avLst/>
          </a:prstGeom>
          <a:solidFill>
            <a:srgbClr val="F4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799" y="2423160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Embeddings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23317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9707A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194560"/>
            <a:ext cx="1965960" cy="777240"/>
          </a:xfrm>
          <a:prstGeom prst="roundRect">
            <a:avLst/>
          </a:prstGeom>
          <a:solidFill>
            <a:srgbClr val="82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423160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ChromaDB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6608" y="23317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9707A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2194560"/>
            <a:ext cx="1965960" cy="777240"/>
          </a:xfrm>
          <a:prstGeom prst="roundRect">
            <a:avLst/>
          </a:prstGeom>
          <a:solidFill>
            <a:srgbClr val="23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423160"/>
            <a:ext cx="1783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Final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2E998E"/>
                </a:solidFill>
                <a:latin typeface="Arial"/>
              </a:rPr>
              <a:t>Vision Input מצטרף כאשר המשתמש מעלה תמונה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03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F49241"/>
                </a:solidFill>
                <a:latin typeface="Arial"/>
              </a:rPr>
              <a:t>Text-to-Speech יוצר קובץ MP3 מהתשובה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233446"/>
                </a:solidFill>
                <a:latin typeface="Arial"/>
              </a:rPr>
              <a:t>Knowledge Base: חבילות, מחירים, שאלות נפוצות, תפעול, מכירות ובטיחות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9707A"/>
                </a:solidFill>
                <a:latin typeface="Arial"/>
              </a:rPr>
              <a:t>EventPlanner AI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800" b="1">
                <a:solidFill>
                  <a:srgbClr val="233446"/>
                </a:solidFill>
                <a:latin typeface="Arial"/>
              </a:rPr>
              <a:t>יכולות OpenAI בפרויקט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>
                <a:solidFill>
                  <a:srgbClr val="282828"/>
                </a:solidFill>
                <a:latin typeface="Arial"/>
              </a:rPr>
              <a:t>• Responses API – שיחה טבעית עם עוזר AI</a:t>
            </a:r>
          </a:p>
          <a:p>
            <a:pPr algn="r"/>
            <a:r>
              <a:rPr sz="2400">
                <a:solidFill>
                  <a:srgbClr val="282828"/>
                </a:solidFill>
                <a:latin typeface="Arial"/>
              </a:rPr>
              <a:t>• Embeddings API – יצירת וקטורים לשאלות ולמסמכים</a:t>
            </a:r>
          </a:p>
          <a:p>
            <a:pPr algn="r"/>
            <a:r>
              <a:rPr sz="2400">
                <a:solidFill>
                  <a:srgbClr val="282828"/>
                </a:solidFill>
                <a:latin typeface="Arial"/>
              </a:rPr>
              <a:t>• Vision Input – ניתוח תמונות של אולם או כניסה</a:t>
            </a:r>
          </a:p>
          <a:p>
            <a:pPr algn="r"/>
            <a:r>
              <a:rPr sz="2400">
                <a:solidFill>
                  <a:srgbClr val="282828"/>
                </a:solidFill>
                <a:latin typeface="Arial"/>
              </a:rPr>
              <a:t>• Text-to-Speech – יכולת נוספת ליצירת קובץ שמע</a:t>
            </a:r>
          </a:p>
        </p:txBody>
      </p:sp>
      <p:sp>
        <p:nvSpPr>
          <p:cNvPr id="5" name="Oval 4"/>
          <p:cNvSpPr/>
          <p:nvPr/>
        </p:nvSpPr>
        <p:spPr>
          <a:xfrm>
            <a:off x="8412480" y="1828800"/>
            <a:ext cx="2377440" cy="2377440"/>
          </a:xfrm>
          <a:prstGeom prst="ellipse">
            <a:avLst/>
          </a:prstGeom>
          <a:solidFill>
            <a:srgbClr val="2E9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214884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9260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יכולות OpenAI
בפרויקט אחד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9707A"/>
                </a:solidFill>
                <a:latin typeface="Arial"/>
              </a:rPr>
              <a:t>EventPlanner AI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500" b="1">
                <a:solidFill>
                  <a:srgbClr val="233446"/>
                </a:solidFill>
                <a:latin typeface="Arial"/>
              </a:rPr>
              <a:t>RAG - בסיס ידע מותאם אישית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0">
                <a:solidFill>
                  <a:srgbClr val="69707A"/>
                </a:solidFill>
                <a:latin typeface="Arial"/>
              </a:rPr>
              <a:t>התשובות נשענות על מידע פנימי ולא רק על ידע כללי של המודל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246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E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33446"/>
                </a:solidFill>
                <a:latin typeface="Arial"/>
              </a:rPr>
              <a:t>packages.md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246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E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93392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33446"/>
                </a:solidFill>
                <a:latin typeface="Arial"/>
              </a:rPr>
              <a:t>pricing_rules.md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3246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E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993392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33446"/>
                </a:solidFill>
                <a:latin typeface="Arial"/>
              </a:rPr>
              <a:t>operation_checklist.md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43200"/>
            <a:ext cx="3246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E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07792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33446"/>
                </a:solidFill>
                <a:latin typeface="Arial"/>
              </a:rPr>
              <a:t>faq.md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43200"/>
            <a:ext cx="3246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E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907792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33446"/>
                </a:solidFill>
                <a:latin typeface="Arial"/>
              </a:rPr>
              <a:t>sales_scripts.md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743200"/>
            <a:ext cx="3246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E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907792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33446"/>
                </a:solidFill>
                <a:latin typeface="Arial"/>
              </a:rPr>
              <a:t>safety_logistics.md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E998E"/>
                </a:solidFill>
                <a:latin typeface="Arial"/>
              </a:rPr>
              <a:t>שאלה → Embedding → חיפוש ב־ChromaDB → הקשר רלוונטי → תשובת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9707A"/>
                </a:solidFill>
                <a:latin typeface="Arial"/>
              </a:rPr>
              <a:t>ניתן להרחיב את המערכת על ידי הוספת קבצי ידע חדשים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9707A"/>
                </a:solidFill>
                <a:latin typeface="Arial"/>
              </a:rPr>
              <a:t>EventPlanner AI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500" b="1">
                <a:solidFill>
                  <a:srgbClr val="233446"/>
                </a:solidFill>
                <a:latin typeface="Arial"/>
              </a:rPr>
              <a:t>יכולת מולטימודלית - תמונה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0">
                <a:solidFill>
                  <a:srgbClr val="69707A"/>
                </a:solidFill>
                <a:latin typeface="Arial"/>
              </a:rPr>
              <a:t>המשתמש מעלה תמונה והמערכת מנתחת אותה בהקשר של האירוע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300">
                <a:solidFill>
                  <a:srgbClr val="282828"/>
                </a:solidFill>
                <a:latin typeface="Arial"/>
              </a:rPr>
              <a:t>• זיהוי כניסה, מעבר, מדרגות ומכשולים</a:t>
            </a:r>
          </a:p>
          <a:p>
            <a:pPr algn="r"/>
            <a:r>
              <a:rPr sz="2300">
                <a:solidFill>
                  <a:srgbClr val="282828"/>
                </a:solidFill>
                <a:latin typeface="Arial"/>
              </a:rPr>
              <a:t>• בדיקת התאמה לגובה תקרה ולתנועה של הבובה</a:t>
            </a:r>
          </a:p>
          <a:p>
            <a:pPr algn="r"/>
            <a:r>
              <a:rPr sz="2300">
                <a:solidFill>
                  <a:srgbClr val="282828"/>
                </a:solidFill>
                <a:latin typeface="Arial"/>
              </a:rPr>
              <a:t>• המלצה עסקית בהתאם למה שנראה בתמונה</a:t>
            </a:r>
          </a:p>
          <a:p>
            <a:pPr algn="r"/>
            <a:r>
              <a:rPr sz="2300">
                <a:solidFill>
                  <a:srgbClr val="282828"/>
                </a:solidFill>
                <a:latin typeface="Arial"/>
              </a:rPr>
              <a:t>• שילוב ניתוח התמונה בתוך תשובת הצ׳אט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2834640" cy="2011680"/>
          </a:xfrm>
          <a:prstGeom prst="roundRect">
            <a:avLst/>
          </a:prstGeom>
          <a:solidFill>
            <a:srgbClr val="37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25146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rial"/>
              </a:rPr>
              <a:t>📸
Image → Vision →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9707A"/>
                </a:solidFill>
                <a:latin typeface="Arial"/>
              </a:rPr>
              <a:t>EventPlanner AI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800" b="1">
                <a:solidFill>
                  <a:srgbClr val="233446"/>
                </a:solidFill>
                <a:latin typeface="Arial"/>
              </a:rPr>
              <a:t>מה נראה בדמו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554480"/>
            <a:ext cx="8412480" cy="594360"/>
          </a:xfrm>
          <a:prstGeom prst="roundRect">
            <a:avLst/>
          </a:prstGeom>
          <a:solidFill>
            <a:srgbClr val="37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719072"/>
            <a:ext cx="8138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  שיחה עם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2468880"/>
            <a:ext cx="8412480" cy="594360"/>
          </a:xfrm>
          <a:prstGeom prst="roundRect">
            <a:avLst/>
          </a:prstGeom>
          <a:solidFill>
            <a:srgbClr val="2E9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2633472"/>
            <a:ext cx="8138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  שאלה מבוססת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383280"/>
            <a:ext cx="8412480" cy="594360"/>
          </a:xfrm>
          <a:prstGeom prst="roundRect">
            <a:avLst/>
          </a:prstGeom>
          <a:solidFill>
            <a:srgbClr val="F4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3547872"/>
            <a:ext cx="8138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  העלאת תמונה וניתוח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4297680"/>
            <a:ext cx="8412480" cy="594360"/>
          </a:xfrm>
          <a:prstGeom prst="roundRect">
            <a:avLst/>
          </a:prstGeom>
          <a:solidFill>
            <a:srgbClr val="23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4462272"/>
            <a:ext cx="8138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  יצירת שמע MP3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9707A"/>
                </a:solidFill>
                <a:latin typeface="Arial"/>
              </a:rPr>
              <a:t>תסריט הדמו נמצא בקובץ docs/DEMO_SCRIPT.md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9707A"/>
                </a:solidFill>
                <a:latin typeface="Arial"/>
              </a:rPr>
              <a:t>EventPlanner AI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סיכום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737360"/>
            <a:ext cx="8503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>
                <a:solidFill>
                  <a:srgbClr val="FFFFFF"/>
                </a:solidFill>
                <a:latin typeface="Arial"/>
              </a:rPr>
              <a:t>• פותרת בעיה אמיתית בתכנון וסגירת אירועים</a:t>
            </a:r>
          </a:p>
          <a:p>
            <a:pPr algn="r"/>
            <a:r>
              <a:rPr sz="2400">
                <a:solidFill>
                  <a:srgbClr val="FFFFFF"/>
                </a:solidFill>
                <a:latin typeface="Arial"/>
              </a:rPr>
              <a:t>• משלבת שיחה, תמונה, בסיס ידע ושמע</a:t>
            </a:r>
          </a:p>
          <a:p>
            <a:pPr algn="r"/>
            <a:r>
              <a:rPr sz="2400">
                <a:solidFill>
                  <a:srgbClr val="FFFFFF"/>
                </a:solidFill>
                <a:latin typeface="Arial"/>
              </a:rPr>
              <a:t>• בנויה בצורה מסודרת עם README ו־requirements</a:t>
            </a:r>
          </a:p>
          <a:p>
            <a:pPr algn="r"/>
            <a:r>
              <a:rPr sz="2400">
                <a:solidFill>
                  <a:srgbClr val="FFFFFF"/>
                </a:solidFill>
                <a:latin typeface="Arial"/>
              </a:rPr>
              <a:t>• מוכנה ל־GitHub, דמו חי והגנה בזום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800600"/>
            <a:ext cx="5760720" cy="822960"/>
          </a:xfrm>
          <a:prstGeom prst="roundRect">
            <a:avLst/>
          </a:prstGeom>
          <a:solidFill>
            <a:srgbClr val="2E9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504748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Ready for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9707A"/>
                </a:solidFill>
                <a:latin typeface="Arial"/>
              </a:rPr>
              <a:t>EventPlanner AI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